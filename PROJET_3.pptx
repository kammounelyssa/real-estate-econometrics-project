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32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68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625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15255"/>
            <a:ext cx="9226296" cy="1328245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47472" y="546354"/>
            <a:ext cx="846331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Incendies de </a:t>
            </a:r>
            <a:r>
              <a:rPr lang="en-US" sz="4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forêt</a:t>
            </a: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&amp;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Prix </a:t>
            </a:r>
            <a:r>
              <a:rPr lang="en-US" sz="4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immobiliers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2857501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Méthode DiD · TWFE · Callaway &amp; Sant'Anna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409651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KAMMOUN Elyssa— Projet 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Problématique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54864" cy="45262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65276"/>
            <a:ext cx="8412480" cy="914400"/>
          </a:xfrm>
          <a:prstGeom prst="rect">
            <a:avLst/>
          </a:prstGeom>
          <a:solidFill>
            <a:srgbClr val="FFF7ED"/>
          </a:solidFill>
          <a:ln w="15240">
            <a:solidFill>
              <a:srgbClr val="E877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018239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 quelle mesure la proximité d’un Incendie affecte-t-elle les prix immobiliers en France ? Comment cet effet évolue-t-il dans le temps et selon la distance ?</a:t>
            </a:r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393192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39319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Effet négatif attendu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2487168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Risque perçu accru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Destruction / dégradation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Dépréciation des biens proches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46320" y="2110935"/>
            <a:ext cx="393192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846320" y="2103120"/>
            <a:ext cx="393192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Effet positif possible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0" y="2487168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Reconstruction du quartier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Attractivité différente post-choc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8412480" cy="914400"/>
          </a:xfrm>
          <a:prstGeom prst="rect">
            <a:avLst/>
          </a:prstGeom>
          <a:solidFill>
            <a:srgbClr val="F0F9FF"/>
          </a:solidFill>
          <a:ln w="1524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3886200"/>
            <a:ext cx="45720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" y="38862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3913632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L'incendie = choc local exogène → stratégie Différence-en-Différences (DiD)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Groupe traité : biens à &lt; 5 km d'un incendie   |   Groupe contrôle : biens à ≥ 5 km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Données — Description du panel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54864" cy="45262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2743200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DVF — Immobilier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256032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Maisons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Prix, surface, date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Coordonnées</a:t>
            </a: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GPS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Biens vendus ≥ 2 fois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432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46120" y="1051560"/>
            <a:ext cx="2743200" cy="31089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46120" y="10515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Incendies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37560" y="1389888"/>
            <a:ext cx="256032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ligne = 1 </a:t>
            </a:r>
            <a:r>
              <a:rPr lang="en-US" sz="1400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incendie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Coordonnées</a:t>
            </a: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GPS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d'occurrence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432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43200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126480" y="10515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Forêts (spatial)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17920" y="1389888"/>
            <a:ext cx="256032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Contours des </a:t>
            </a:r>
            <a:r>
              <a:rPr lang="en-US" sz="1400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forêts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Contexte</a:t>
            </a: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géographique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5760" y="2788920"/>
            <a:ext cx="411480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65760" y="2788920"/>
            <a:ext cx="41148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65760" y="2788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Taille du panel (1×3)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0" descr="/mnt/user-data/uploads/Capture_d_écran_2026-03-26_à_22_37_0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3081528"/>
            <a:ext cx="4023360" cy="1124712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663440" y="2788920"/>
            <a:ext cx="41148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4663440" y="2788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Statistiques descriptives globales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 1" descr="/mnt/user-data/uploads/Capture_d_écran_2026-03-26_à_22_38_39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3095244"/>
            <a:ext cx="4251960" cy="112471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65760" y="43251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1 264 667 obs · 550 566 biens · 30 056 communes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663440" y="43251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Prix moy. 242 168 € · Surface 97.9 m² · Terrain 1 429 m² · env. 4 pièces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Construction des variables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54864" cy="45262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Du brut au panel DiD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8412480" cy="676656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47472" y="1024128"/>
            <a:ext cx="1371600" cy="6766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024128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874520" y="1124712"/>
            <a:ext cx="34747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920240" y="112471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 = st_distance(bien, incendie_proche)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0" y="1024128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de chaque bien à </a:t>
            </a:r>
            <a:r>
              <a:rPr lang="en-US" sz="1100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l’incendie</a:t>
            </a: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 plus proche (st_nearest_feature)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8412480" cy="676656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1371600" cy="67665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Traitement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874520" y="1892808"/>
            <a:ext cx="34747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920240" y="189280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traite_5km = 1  si  distance &lt; 5 km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0" y="1792224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Seuils testés : 2 km · 5 km (principal) · 10 km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5760" y="2560320"/>
            <a:ext cx="8412480" cy="676656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65760" y="2560320"/>
            <a:ext cx="1371600" cy="6766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65760" y="2560320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874520" y="2660904"/>
            <a:ext cx="34747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920240" y="266090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= 1  si  vente après incendie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2560320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 temporelle : avant vs après le choc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5760" y="3328416"/>
            <a:ext cx="8412480" cy="676656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65760" y="3328416"/>
            <a:ext cx="1371600" cy="6766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65760" y="3328416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874520" y="3429000"/>
            <a:ext cx="34747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920240" y="342900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did = traite × post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0" y="3328416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 d'interaction → mesure l'effet causal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8412480" cy="676656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6766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65760" y="409651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Cohorte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874520" y="4197096"/>
            <a:ext cx="34747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1920240" y="419709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annee_traitement = année du 1er incendie proche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0" y="4096512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Nécessaire pour Callaway &amp; Sant'Anna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Statistiques descriptives — Répartition du panel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54864" cy="45262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Distribution des groupes traitement × période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1148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Répartition Traité / Contrôle (effectifs)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0" descr="/mnt/user-data/uploads/Capture_d_écran_2026-03-26_à_22_37_1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344168"/>
            <a:ext cx="4023360" cy="121615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663440" y="1051560"/>
            <a:ext cx="4114800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663440" y="1051560"/>
            <a:ext cx="411480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66344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Répartition Avant / Après incendie (effectifs)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1" descr="/mnt/user-data/uploads/Capture_d_écran_2026-03-26_à_22_37_1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9160" y="1344168"/>
            <a:ext cx="4023360" cy="121615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65760" y="2788920"/>
            <a:ext cx="411480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365760" y="2788920"/>
            <a:ext cx="4114800" cy="2743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365760" y="2788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Effectifs croisés : Traité × Post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2" descr="/mnt/user-data/uploads/tableau_di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11480" y="3081528"/>
            <a:ext cx="4023360" cy="130759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663440" y="2788920"/>
            <a:ext cx="411480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4"/>
          <p:cNvSpPr/>
          <p:nvPr/>
        </p:nvSpPr>
        <p:spPr>
          <a:xfrm>
            <a:off x="4663440" y="2788920"/>
            <a:ext cx="411480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5"/>
          <p:cNvSpPr/>
          <p:nvPr/>
        </p:nvSpPr>
        <p:spPr>
          <a:xfrm>
            <a:off x="4663440" y="2788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Prix &amp; Surface : Traités vs Contrôles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3" descr="/mnt/user-data/uploads/Capture_d_écran_2026-03-26_à_22_38_44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09160" y="3081528"/>
            <a:ext cx="4023360" cy="13075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65760" y="2567263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451 493 contrôles · 813 174 traités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4663440" y="25786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520 436 avant · 744 231 après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632" y="2286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Statistiques descriptives — Prix immobiliers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-16637" y="1787947"/>
            <a:ext cx="29864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0" y="648269"/>
            <a:ext cx="9144000" cy="3474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957885" y="642991"/>
            <a:ext cx="69171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Évolution du prix moyen par </a:t>
            </a:r>
            <a:r>
              <a:rPr lang="en-US" sz="14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1" descr="/mnt/user-data/uploads/Capture_d_écran_2026-03-26_à_22_37_4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963" y="995741"/>
            <a:ext cx="9012074" cy="41248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Statistiques descriptives — Distances à l'incendie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54864" cy="45262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62458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Distribution spatiale des biens par rapport aux </a:t>
            </a:r>
            <a:r>
              <a:rPr lang="en-US" sz="1100" i="1" dirty="0" err="1">
                <a:solidFill>
                  <a:srgbClr val="64748B"/>
                </a:solidFill>
              </a:rPr>
              <a:t>incendies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5303520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5303520" cy="2743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des distances à l'incendie (km)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0" descr="/mnt/user-data/uploads/Capture_d_écran_2026-03-26_à_22_37_4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344168"/>
            <a:ext cx="5212080" cy="290779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15000" y="1051560"/>
            <a:ext cx="3305014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852160" y="10515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Statistiques des distances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1" descr="/mnt/user-data/uploads/Capture_d_écran_2026-03-26_à_22_37_5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43063" y="1460369"/>
            <a:ext cx="3722803" cy="102605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979673" y="2727698"/>
            <a:ext cx="1280160" cy="32004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5924305" y="27432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</a:rPr>
              <a:t>Moyenne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315200" y="2712661"/>
            <a:ext cx="132588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7315200" y="2704133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7722"/>
                </a:solidFill>
              </a:rPr>
              <a:t>4.93 km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989320" y="3124141"/>
            <a:ext cx="1280160" cy="32004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6"/>
          <p:cNvSpPr/>
          <p:nvPr/>
        </p:nvSpPr>
        <p:spPr>
          <a:xfrm>
            <a:off x="5980176" y="3110047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</a:rPr>
              <a:t>Médiane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315200" y="3124141"/>
            <a:ext cx="132588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7315200" y="3124141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7722"/>
                </a:solidFill>
              </a:rPr>
              <a:t>3.48 km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989320" y="3520584"/>
            <a:ext cx="1280160" cy="32004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5980176" y="3522459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</a:rPr>
              <a:t>P25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7324344" y="3531190"/>
            <a:ext cx="132588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7315200" y="351584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7722"/>
                </a:solidFill>
              </a:rPr>
              <a:t>1.74 km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989320" y="3907747"/>
            <a:ext cx="1280160" cy="32004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4"/>
          <p:cNvSpPr/>
          <p:nvPr/>
        </p:nvSpPr>
        <p:spPr>
          <a:xfrm>
            <a:off x="5980176" y="3906341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</a:rPr>
              <a:t>P75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7324344" y="3902149"/>
            <a:ext cx="132588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6"/>
          <p:cNvSpPr/>
          <p:nvPr/>
        </p:nvSpPr>
        <p:spPr>
          <a:xfrm>
            <a:off x="7315200" y="3906341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7722"/>
                </a:solidFill>
              </a:rPr>
              <a:t>6.67 km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980176" y="4300935"/>
            <a:ext cx="1280160" cy="32004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8"/>
          <p:cNvSpPr/>
          <p:nvPr/>
        </p:nvSpPr>
        <p:spPr>
          <a:xfrm>
            <a:off x="5925312" y="4297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</a:rPr>
              <a:t>Maximum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7315200" y="4297680"/>
            <a:ext cx="132588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0"/>
          <p:cNvSpPr/>
          <p:nvPr/>
        </p:nvSpPr>
        <p:spPr>
          <a:xfrm>
            <a:off x="7315200" y="4328363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7722"/>
                </a:solidFill>
              </a:rPr>
              <a:t>20.0 km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-1726511" y="4488383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→ La majorité des biens se situe à moins de 5 km d'un incendie (médiane 3.5 km)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→ Seuil de 5 km retenu comme principal seuil de traitement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3247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Visualisation spatiale — Forêts &amp; Incendies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11480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Communes et zones forestières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0" descr="/mnt/user-data/uploads/Capture_d_écran_2026-03-26_à_22_38_0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316736"/>
            <a:ext cx="4817725" cy="360045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663440" y="1005840"/>
            <a:ext cx="411480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66344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Communes et incendies en France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1" descr="/mnt/user-data/uploads/Capture_d_écran_2026-03-26_à_22_38_09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2480" y="1298448"/>
            <a:ext cx="4235177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Visualisation spatiale — Maisons &amp; Traitement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54864" cy="45262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Superposition des biens immobiliers avec les incendies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1148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Maisons, forêts et incendies en France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0" descr="/mnt/user-data/uploads/Capture_d_écran_2026-03-26_à_22_38_1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5448" y="1298448"/>
            <a:ext cx="4416552" cy="35204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663440" y="998091"/>
            <a:ext cx="4114800" cy="2743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66344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Maisons situées à moins de 5 km d'un incendie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1" descr="/mnt/user-data/uploads/Capture_d_écran_2026-03-26_à_22_38_2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39996" y="1260772"/>
            <a:ext cx="4361688" cy="35581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Stratégie d'identification — DiD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54864" cy="45262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677876"/>
              </p:ext>
            </p:extLst>
          </p:nvPr>
        </p:nvGraphicFramePr>
        <p:xfrm>
          <a:off x="4704827" y="1037453"/>
          <a:ext cx="4439174" cy="1171055"/>
        </p:xfrm>
        <a:graphic>
          <a:graphicData uri="http://schemas.openxmlformats.org/drawingml/2006/table">
            <a:tbl>
              <a:tblPr/>
              <a:tblGrid>
                <a:gridCol w="183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Avant incendie (post=0)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Après incendie (post=1)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7722"/>
                          </a:solidFill>
                        </a:rPr>
                        <a:t>Traité (dist &lt; 5 km)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 = 217 771 €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B = 258 640 €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</a:rPr>
                        <a:t>Contrôle (dist ≥ 5 km)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 = 209 872 €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D = 267 630 €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668693" y="2810828"/>
            <a:ext cx="4297008" cy="444509"/>
          </a:xfrm>
          <a:prstGeom prst="rect">
            <a:avLst/>
          </a:prstGeom>
          <a:solidFill>
            <a:srgbClr val="FFF7ED"/>
          </a:solidFill>
          <a:ln w="15240">
            <a:solidFill>
              <a:srgbClr val="E877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1379775" y="2894060"/>
            <a:ext cx="1360551" cy="242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7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Estimateur DiD 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589754" y="2753810"/>
            <a:ext cx="4297008" cy="523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β_DiD  =  (B − A)  −  (D − C)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256630" y="4606962"/>
            <a:ext cx="4596073" cy="423926"/>
          </a:xfrm>
          <a:prstGeom prst="rect">
            <a:avLst/>
          </a:prstGeom>
          <a:solidFill>
            <a:srgbClr val="F8FAFC"/>
          </a:solidFill>
          <a:ln w="1524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8"/>
          <p:cNvSpPr/>
          <p:nvPr/>
        </p:nvSpPr>
        <p:spPr>
          <a:xfrm>
            <a:off x="3499261" y="42691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 TWFE 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743899" y="4658905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feols(log_prix ~ did | id_bien + annee)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52160" y="10515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989320" y="1426464"/>
            <a:ext cx="26517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17" descr="Une image contenant texte, capture d’écran, reçu, Police&#10;&#10;Description générée automatiquement">
            <a:extLst>
              <a:ext uri="{FF2B5EF4-FFF2-40B4-BE49-F238E27FC236}">
                <a16:creationId xmlns:a16="http://schemas.microsoft.com/office/drawing/2014/main" id="{CD0219DE-B0C5-1606-CF92-1AAC763AB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88" y="869802"/>
            <a:ext cx="4537138" cy="1405308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AFF4EC0E-B10A-1FBE-6D5E-7E54CCF203E2}"/>
              </a:ext>
            </a:extLst>
          </p:cNvPr>
          <p:cNvSpPr txBox="1"/>
          <p:nvPr/>
        </p:nvSpPr>
        <p:spPr>
          <a:xfrm>
            <a:off x="125965" y="3300398"/>
            <a:ext cx="477704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 prix augmentent dans les deux groupes, mais moins rapidement dans les zones traitées </a:t>
            </a:r>
          </a:p>
        </p:txBody>
      </p:sp>
      <p:sp>
        <p:nvSpPr>
          <p:cNvPr id="20" name="Flèche vers la droite 19">
            <a:extLst>
              <a:ext uri="{FF2B5EF4-FFF2-40B4-BE49-F238E27FC236}">
                <a16:creationId xmlns:a16="http://schemas.microsoft.com/office/drawing/2014/main" id="{EFC58C35-8126-3B39-5EF1-F75711D54CB0}"/>
              </a:ext>
            </a:extLst>
          </p:cNvPr>
          <p:cNvSpPr/>
          <p:nvPr/>
        </p:nvSpPr>
        <p:spPr>
          <a:xfrm>
            <a:off x="4704826" y="3839939"/>
            <a:ext cx="818001" cy="1832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D265A45-C5D2-1748-7267-0822FAB5386A}"/>
              </a:ext>
            </a:extLst>
          </p:cNvPr>
          <p:cNvSpPr txBox="1"/>
          <p:nvPr/>
        </p:nvSpPr>
        <p:spPr>
          <a:xfrm>
            <a:off x="5577691" y="3654471"/>
            <a:ext cx="3460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Suggère un effet négatif des incendies sur les prix immobiliers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14A778C-C33A-3E3E-1B96-AA707274D265}"/>
              </a:ext>
            </a:extLst>
          </p:cNvPr>
          <p:cNvSpPr txBox="1"/>
          <p:nvPr/>
        </p:nvSpPr>
        <p:spPr>
          <a:xfrm>
            <a:off x="7226476" y="2808419"/>
            <a:ext cx="910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-16 889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AF27A83-2627-F2AB-6FBF-16D49502F2DE}"/>
              </a:ext>
            </a:extLst>
          </p:cNvPr>
          <p:cNvSpPr txBox="1"/>
          <p:nvPr/>
        </p:nvSpPr>
        <p:spPr>
          <a:xfrm>
            <a:off x="6994620" y="2830754"/>
            <a:ext cx="305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=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749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Résultats — Estimation TWFE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621792"/>
            <a:ext cx="91440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771456" y="6217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de régression TWFE (reg1–reg5)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6893336" y="4723846"/>
            <a:ext cx="2889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R² ≈ 0.877 pour tous les modèles</a:t>
            </a:r>
            <a:endParaRPr lang="en-US" sz="900" dirty="0"/>
          </a:p>
        </p:txBody>
      </p:sp>
      <p:pic>
        <p:nvPicPr>
          <p:cNvPr id="42" name="Image 41" descr="Une image contenant texte, reçu, Police, nombre&#10;&#10;Description générée automatiquement">
            <a:extLst>
              <a:ext uri="{FF2B5EF4-FFF2-40B4-BE49-F238E27FC236}">
                <a16:creationId xmlns:a16="http://schemas.microsoft.com/office/drawing/2014/main" id="{435AD3B8-B9FE-82E4-CE18-893642B07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6112"/>
            <a:ext cx="5648624" cy="2611464"/>
          </a:xfrm>
          <a:prstGeom prst="rect">
            <a:avLst/>
          </a:prstGeom>
        </p:spPr>
      </p:pic>
      <p:pic>
        <p:nvPicPr>
          <p:cNvPr id="44" name="Image 43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D19BA1B7-DB15-150A-C41A-FED811FA0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617" y="897627"/>
            <a:ext cx="3460389" cy="2700608"/>
          </a:xfrm>
          <a:prstGeom prst="rect">
            <a:avLst/>
          </a:prstGeom>
        </p:spPr>
      </p:pic>
      <p:sp>
        <p:nvSpPr>
          <p:cNvPr id="45" name="ZoneTexte 44">
            <a:extLst>
              <a:ext uri="{FF2B5EF4-FFF2-40B4-BE49-F238E27FC236}">
                <a16:creationId xmlns:a16="http://schemas.microsoft.com/office/drawing/2014/main" id="{54C11601-9690-CB0C-3D48-BA66719668C8}"/>
              </a:ext>
            </a:extLst>
          </p:cNvPr>
          <p:cNvSpPr txBox="1"/>
          <p:nvPr/>
        </p:nvSpPr>
        <p:spPr>
          <a:xfrm>
            <a:off x="170482" y="3613171"/>
            <a:ext cx="914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Régression principale (Reg1): 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fr-FR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xposition à un incendie -&gt; augmentation d'environ 0,4 % du prix des biens immobiliers.</a:t>
            </a:r>
          </a:p>
          <a:p>
            <a:pPr algn="ctr"/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RÉSULTAT CONTRE-INTUITIF</a:t>
            </a:r>
          </a:p>
          <a:p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Régression avec contrôle (Reg2): 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</a:t>
            </a:r>
            <a:r>
              <a:rPr lang="fr-FR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 prix augmentent avec la surface, la taille du terrain et le nombre de pièces.</a:t>
            </a:r>
          </a:p>
          <a:p>
            <a:endParaRPr lang="fr-FR" sz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Effets par Distance (Reg3/Reg4/Reg5): </a:t>
            </a:r>
            <a:r>
              <a:rPr lang="fr-FR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L'effet de l'incendie décroît avec la distance : il est plus fort à proximité immédiate (2 km) et diminue progressivement à mesure que l’on s’éloigne.</a:t>
            </a:r>
          </a:p>
          <a:p>
            <a:endParaRPr lang="fr-FR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Event Study 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54864" cy="45262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14752"/>
            <a:ext cx="3585688" cy="1755648"/>
          </a:xfrm>
          <a:prstGeom prst="rect">
            <a:avLst/>
          </a:prstGeom>
          <a:solidFill>
            <a:srgbClr val="F0FDF4"/>
          </a:solidFill>
          <a:ln w="1524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223280"/>
            <a:ext cx="3585688" cy="310895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78695" y="1181591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Avant le traitement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676529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 Coefficients pré-traitement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Tendances parallèles validées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Pas d'anticipation des incendies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Le DiD est identifié causalement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3200400"/>
            <a:ext cx="3585688" cy="1572768"/>
          </a:xfrm>
          <a:prstGeom prst="rect">
            <a:avLst/>
          </a:prstGeom>
          <a:solidFill>
            <a:srgbClr val="FFF7ED"/>
          </a:solidFill>
          <a:ln w="15240">
            <a:solidFill>
              <a:srgbClr val="E877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3566160" cy="2743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78695" y="3164599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Après le traitement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347472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 Effet positif progressif (avec bruit)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L'impact s'accumule dans le temps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Cohérent avec le TWFE statique (+0.44%)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26280" y="1097185"/>
            <a:ext cx="429768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0" y="106783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Schéma — coefficients event study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Image 36" descr="Une image contenant ligne, texte, diagramme, Tracé&#10;&#10;Description générée automatiquement">
            <a:extLst>
              <a:ext uri="{FF2B5EF4-FFF2-40B4-BE49-F238E27FC236}">
                <a16:creationId xmlns:a16="http://schemas.microsoft.com/office/drawing/2014/main" id="{FC6BEBFF-9E50-B46C-61C6-FEB8EB799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655" y="1517714"/>
            <a:ext cx="5080345" cy="29859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Callaway &amp; Sant'Anna — </a:t>
            </a:r>
            <a:r>
              <a:rPr lang="en-US" sz="19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Agrégé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54864" cy="45262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712550"/>
            <a:ext cx="8412477" cy="479527"/>
          </a:xfrm>
          <a:prstGeom prst="rect">
            <a:avLst/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74248" y="730156"/>
            <a:ext cx="7772399" cy="444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1E29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fr-FR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ariable dépendante est 1og_prix, donc 0.0065 ~ +0.65%</a:t>
            </a:r>
          </a:p>
          <a:p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fr-FR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ffet n'est pas statistiquement significatif au seuil de 5 %, car l'intervalle de confiance 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contient</a:t>
            </a:r>
            <a:r>
              <a:rPr lang="fr-FR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0</a:t>
            </a:r>
          </a:p>
          <a:p>
            <a:pPr marL="0" indent="0">
              <a:buNone/>
            </a:pPr>
            <a:endParaRPr lang="en-US" sz="1200" dirty="0">
              <a:solidFill>
                <a:srgbClr val="1E29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52521" y="3118097"/>
            <a:ext cx="2904382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748915" y="2829237"/>
            <a:ext cx="2904383" cy="2748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81562" y="2805869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Résultat ATT global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5760" y="2570548"/>
            <a:ext cx="2849518" cy="4926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751474" y="3149865"/>
            <a:ext cx="288779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 biens traités auraient un prix supérieur d'environ 0,65 % après traitement.</a:t>
            </a:r>
          </a:p>
          <a:p>
            <a:pPr marL="0" indent="0">
              <a:buNone/>
            </a:pPr>
            <a:endParaRPr lang="en-US" sz="1200" dirty="0">
              <a:solidFill>
                <a:srgbClr val="1E29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 significatif (p &gt; 0.05)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Effet positif mais incertain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Large intervalle de confiance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919754" y="3076979"/>
            <a:ext cx="2614408" cy="132127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919754" y="2829237"/>
            <a:ext cx="2614408" cy="24349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215278" y="278818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Study Callaway &amp;</a:t>
            </a:r>
            <a:r>
              <a:rPr lang="en-US" sz="12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Sant’Anna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919754" y="3124102"/>
            <a:ext cx="2679115" cy="12102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Avant traitement
</a:t>
            </a:r>
            <a:r>
              <a:rPr lang="en-US" sz="1100" dirty="0">
                <a:solidFill>
                  <a:srgbClr val="1E293B"/>
                </a:solidFill>
              </a:rPr>
              <a:t>✔ Pas de tendance 
</a:t>
            </a:r>
            <a:r>
              <a:rPr lang="en-US" sz="1100" b="1" dirty="0">
                <a:solidFill>
                  <a:srgbClr val="E87722"/>
                </a:solidFill>
              </a:rPr>
              <a:t>Après traitement
</a:t>
            </a:r>
            <a:r>
              <a:rPr lang="en-US" sz="1100" dirty="0">
                <a:solidFill>
                  <a:srgbClr val="1E293B"/>
                </a:solidFill>
              </a:rPr>
              <a:t>✔ Effet positif mais incertain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→ Cohérent avec TWFE qualitativement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592507"/>
            <a:ext cx="8412480" cy="502920"/>
          </a:xfrm>
          <a:prstGeom prst="rect">
            <a:avLst/>
          </a:prstGeom>
          <a:solidFill>
            <a:srgbClr val="F4F6FA"/>
          </a:solidFill>
          <a:ln w="1524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48640" y="4642547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A4A"/>
                </a:solidFill>
              </a:rPr>
              <a:t>Les deux méthodes convergent qualitativement. Callaway révèle que la significativité du TWFE doit être interprétée avec prudence.</a:t>
            </a:r>
            <a:endParaRPr lang="en-US" sz="1100" dirty="0"/>
          </a:p>
        </p:txBody>
      </p:sp>
      <p:pic>
        <p:nvPicPr>
          <p:cNvPr id="22" name="Image 21" descr="Une image contenant texte, ligne, capture d’écran, blanc&#10;&#10;Description générée automatiquement">
            <a:extLst>
              <a:ext uri="{FF2B5EF4-FFF2-40B4-BE49-F238E27FC236}">
                <a16:creationId xmlns:a16="http://schemas.microsoft.com/office/drawing/2014/main" id="{1AEE7EB1-6AC6-5882-544D-B0A3CFFDA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83" y="1272117"/>
            <a:ext cx="8903316" cy="12007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Comparaison des méthodes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54864" cy="45262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TWFE vs Callaway &amp; Sant'Anna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10929"/>
              </p:ext>
            </p:extLst>
          </p:nvPr>
        </p:nvGraphicFramePr>
        <p:xfrm>
          <a:off x="365760" y="1051560"/>
          <a:ext cx="8412480" cy="29260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5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Méthode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 estimé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Significativité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Tend. parallèles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Robustesse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TWFE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77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+0.44% à +0.91%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 p &lt; 0.05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 Validées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Biaisé si échelonné</a:t>
                      </a: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Callaway &amp; Sant'Anna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77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≈ +0.65%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✘ p &gt; 0.05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 Validées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Robuste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114800"/>
            <a:ext cx="8412480" cy="731520"/>
          </a:xfrm>
          <a:prstGeom prst="rect">
            <a:avLst/>
          </a:prstGeom>
          <a:solidFill>
            <a:srgbClr val="FFF7ED"/>
          </a:solidFill>
          <a:ln w="15240">
            <a:solidFill>
              <a:srgbClr val="E877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48640" y="415137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2A4A"/>
                </a:solidFill>
              </a:rPr>
              <a:t>Gradient distance : 2 km (+0.91%) &gt; 5 km (+0.44%) &gt; 10 km (+0.29%) → cohérent avec un choc local, renforce la validité causale.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4425696"/>
            <a:ext cx="9144000" cy="7132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84048" y="119957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8229600" cy="713232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513" y="8686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722"/>
                </a:solidFill>
              </a:rPr>
              <a:t> Résultat principal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" y="1057217"/>
            <a:ext cx="8229600" cy="442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200" dirty="0" err="1">
                <a:solidFill>
                  <a:srgbClr val="CADC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Effet</a:t>
            </a:r>
            <a:r>
              <a:rPr lang="en-US" sz="1200" dirty="0">
                <a:solidFill>
                  <a:srgbClr val="CADC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faible et positif des incendies sur les prix immobiliers proches (+0.44% à +0.91% selon le seuil), mais </a:t>
            </a:r>
            <a:r>
              <a:rPr lang="en-US" sz="1200" dirty="0" err="1">
                <a:solidFill>
                  <a:srgbClr val="CADC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incertain</a:t>
            </a:r>
            <a:r>
              <a:rPr lang="en-US" sz="1200" dirty="0">
                <a:solidFill>
                  <a:srgbClr val="CADC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selon</a:t>
            </a:r>
            <a:r>
              <a:rPr lang="en-US" sz="1200" dirty="0">
                <a:solidFill>
                  <a:srgbClr val="CADC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Callaway &amp; Sant'Anna.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84048" y="1719072"/>
            <a:ext cx="8229600" cy="713232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66928" y="17556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7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Tendances </a:t>
            </a:r>
            <a:r>
              <a:rPr lang="en-US" sz="1200" b="1" dirty="0" err="1">
                <a:solidFill>
                  <a:srgbClr val="E877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parallèles</a:t>
            </a:r>
            <a:r>
              <a:rPr lang="en-US" sz="1200" b="1" dirty="0">
                <a:solidFill>
                  <a:srgbClr val="E877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validées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928" y="204825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coefficients pré-traitement sont proches de zéro → la stratégie DiD est identifiée causalement.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84048" y="2505456"/>
            <a:ext cx="8229600" cy="1033272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66928" y="2578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87121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3621024"/>
            <a:ext cx="8229600" cy="713232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5" name="Text 13"/>
          <p:cNvSpPr/>
          <p:nvPr/>
        </p:nvSpPr>
        <p:spPr>
          <a:xfrm>
            <a:off x="530352" y="25420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7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Cohérence inter-méthodes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5016" y="3345667"/>
            <a:ext cx="7916224" cy="4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TWFE (significatif) : </a:t>
            </a:r>
            <a:r>
              <a:rPr lang="fr-FR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estime un effet positif faible, autour de +0,4 % à +0,5 %.(biais possible)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Callaway &amp; </a:t>
            </a:r>
            <a:r>
              <a:rPr lang="en-US" sz="1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Sant'Anna</a:t>
            </a: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(non </a:t>
            </a:r>
            <a:r>
              <a:rPr lang="en-US" sz="1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significatif</a:t>
            </a: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:</a:t>
            </a:r>
            <a:r>
              <a:rPr lang="fr-FR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confirme un effet positif du même ordre de grandeur, autour de +0,65 %, mais celui-ci n'est pas statistiquement significatif.</a:t>
            </a:r>
          </a:p>
          <a:p>
            <a:r>
              <a:rPr lang="fr-FR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deux approches convergent donc sur un effet faible, mais pas totalement robuste.</a:t>
            </a:r>
          </a:p>
          <a:p>
            <a:endParaRPr lang="fr-FR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study: </a:t>
            </a:r>
            <a:r>
              <a:rPr lang="fr-FR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coefficients pré-traitement sont globalement proches de zéro, ce qui soutient l'hypothèse de tendances parallèles.</a:t>
            </a:r>
          </a:p>
          <a:p>
            <a:r>
              <a:rPr lang="fr-FR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Après traitement, les effets sont plutôt positifs, mais les intervalles de confiance restent larges, ce qui limite la précision de l'interprétation dynamique.</a:t>
            </a:r>
          </a:p>
          <a:p>
            <a:pPr marL="0" indent="0">
              <a:buNone/>
            </a:pP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8288" y="452331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KAMMOUN ELYSSA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2717</TotalTime>
  <Words>1149</Words>
  <Application>Microsoft Macintosh PowerPoint</Application>
  <PresentationFormat>Affichage à l'écran (16:9)</PresentationFormat>
  <Paragraphs>184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Arial</vt:lpstr>
      <vt:lpstr>Cambria</vt:lpstr>
      <vt:lpstr>Consolas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Incendies de forêt &amp; Prix immobiliers</dc:title>
  <dc:subject>PptxGenJS Presentation</dc:subject>
  <dc:creator>PptxGenJS</dc:creator>
  <cp:lastModifiedBy>elyssa Kammoun</cp:lastModifiedBy>
  <cp:revision>7</cp:revision>
  <dcterms:created xsi:type="dcterms:W3CDTF">2026-03-27T20:48:07Z</dcterms:created>
  <dcterms:modified xsi:type="dcterms:W3CDTF">2026-03-30T08:55:25Z</dcterms:modified>
</cp:coreProperties>
</file>